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07" r:id="rId6"/>
    <p:sldId id="298" r:id="rId7"/>
    <p:sldId id="309" r:id="rId8"/>
    <p:sldId id="290" r:id="rId9"/>
    <p:sldId id="282" r:id="rId10"/>
    <p:sldId id="312" r:id="rId11"/>
    <p:sldId id="285" r:id="rId12"/>
    <p:sldId id="300" r:id="rId13"/>
    <p:sldId id="313" r:id="rId14"/>
    <p:sldId id="314" r:id="rId15"/>
    <p:sldId id="315" r:id="rId16"/>
    <p:sldId id="316" r:id="rId17"/>
    <p:sldId id="310" r:id="rId18"/>
    <p:sldId id="3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09"/>
    <a:srgbClr val="038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D11E-5E61-4F8D-8431-82352A8E4CED}" v="86" dt="2026-03-19T20:56:07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95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8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93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8688-15A8-0843-5DCF-849FF6A4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2494D-8346-2EC7-4EAE-27DB31308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F0D38-9C6D-118C-EB23-CB5BFE858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7EF1F-48F0-EF54-A76C-2B3D2689D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2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80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6D13-CDB7-5106-22E1-67431655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8744E-1731-B3A4-076C-72B50559D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00306-4B5E-2162-5CFD-F02E88E25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5AC48-E7C8-9161-A20D-B4EADBE54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E8BF-ECBF-082B-C736-6D016ED8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B9922-32B8-A867-115B-C9E9E58F9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74BDA-CFB4-CEA1-B658-FAC057851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8DFE0-65E5-8C9B-4E7E-CFA97FA24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046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BD63-27FF-6C16-78C7-63532585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EA75F-353F-A673-8652-794A4C844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5E049-2D06-0C28-5E1D-366EE2E2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E7664-D696-0A09-6030-7C38781B0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75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085" y="-418865"/>
            <a:ext cx="11209867" cy="2476105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Macroeconomic Drivers of Stock Market Performance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915" y="4536904"/>
            <a:ext cx="7953375" cy="457200"/>
          </a:xfrm>
        </p:spPr>
        <p:txBody>
          <a:bodyPr/>
          <a:lstStyle/>
          <a:p>
            <a:r>
              <a:rPr lang="en-IN" sz="2400" b="1" dirty="0"/>
              <a:t>Abhijit Thomas- NF1032932</a:t>
            </a:r>
            <a:endParaRPr lang="en-IN" sz="2400" dirty="0"/>
          </a:p>
          <a:p>
            <a:r>
              <a:rPr lang="en-IN" sz="2400" b="1" dirty="0"/>
              <a:t>Sathiyabama Sampath- NF1025995</a:t>
            </a:r>
            <a:endParaRPr lang="en-IN" sz="2400" dirty="0"/>
          </a:p>
          <a:p>
            <a:r>
              <a:rPr lang="en-IN" sz="2400" b="1" dirty="0"/>
              <a:t>Anisha Antony- NF1022549</a:t>
            </a:r>
            <a:endParaRPr lang="en-IN" sz="2400" dirty="0"/>
          </a:p>
          <a:p>
            <a:r>
              <a:rPr lang="en-IN" sz="2400" b="1" dirty="0"/>
              <a:t>Resma Devi Sharma- NF1026127</a:t>
            </a:r>
            <a:endParaRPr lang="en-IN" sz="2400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E4AE1-74CE-6922-C95E-3392C1B68D62}"/>
              </a:ext>
            </a:extLst>
          </p:cNvPr>
          <p:cNvSpPr txBox="1"/>
          <p:nvPr/>
        </p:nvSpPr>
        <p:spPr>
          <a:xfrm>
            <a:off x="344537" y="3155720"/>
            <a:ext cx="3217333" cy="546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828"/>
              </a:lnSpc>
            </a:pPr>
            <a:r>
              <a:rPr lang="en-US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Presentation by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30778-A032-0126-B048-EEDE14B15CA4}"/>
              </a:ext>
            </a:extLst>
          </p:cNvPr>
          <p:cNvSpPr txBox="1"/>
          <p:nvPr/>
        </p:nvSpPr>
        <p:spPr>
          <a:xfrm>
            <a:off x="2134178" y="2033346"/>
            <a:ext cx="6242756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883"/>
              </a:lnSpc>
            </a:pPr>
            <a:r>
              <a:rPr lang="en-US" sz="2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Analytics Case Study </a:t>
            </a:r>
            <a:r>
              <a:rPr lang="en-US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  <a:endParaRPr lang="en-US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close up image of coins">
            <a:extLst>
              <a:ext uri="{FF2B5EF4-FFF2-40B4-BE49-F238E27FC236}">
                <a16:creationId xmlns:a16="http://schemas.microsoft.com/office/drawing/2014/main" id="{B91E178C-484E-43C6-93B4-4DF1D16460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5" y="0"/>
            <a:ext cx="1218882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Statement of Purpose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44752" y="2487164"/>
            <a:ext cx="2926080" cy="2866779"/>
          </a:xfrm>
        </p:spPr>
        <p:txBody>
          <a:bodyPr/>
          <a:lstStyle/>
          <a:p>
            <a:r>
              <a:rPr lang="en-ZA" dirty="0"/>
              <a:t>1.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73352" y="3374136"/>
            <a:ext cx="2468880" cy="13716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Examine the impact of macroeconomic indicators on financial market performance.</a:t>
            </a:r>
          </a:p>
          <a:p>
            <a:endParaRPr lang="en-ZA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36008" y="2487164"/>
            <a:ext cx="2926080" cy="2866779"/>
          </a:xfrm>
        </p:spPr>
        <p:txBody>
          <a:bodyPr>
            <a:normAutofit/>
          </a:bodyPr>
          <a:lstStyle/>
          <a:p>
            <a:r>
              <a:rPr lang="en-ZA" dirty="0"/>
              <a:t>2.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36008" y="3429000"/>
            <a:ext cx="2848156" cy="13716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Differentiate between long-term structural relationships and short-term market fluctuations.</a:t>
            </a:r>
            <a:endParaRPr lang="en-ZA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90688" y="2487165"/>
            <a:ext cx="2926080" cy="2866778"/>
          </a:xfrm>
        </p:spPr>
        <p:txBody>
          <a:bodyPr>
            <a:normAutofit/>
          </a:bodyPr>
          <a:lstStyle/>
          <a:p>
            <a:r>
              <a:rPr lang="en-ZA" dirty="0"/>
              <a:t>3.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969593" y="3145535"/>
            <a:ext cx="2468880" cy="20526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Develop predictive models to analyze and forecast market behavior using macro-financial data. </a:t>
            </a:r>
          </a:p>
          <a:p>
            <a:r>
              <a:rPr lang="en-US" dirty="0"/>
              <a:t>Provide insights to support decisions for investors, policymakers and businesses.</a:t>
            </a:r>
          </a:p>
          <a:p>
            <a:endParaRPr lang="en-ZA" noProof="1"/>
          </a:p>
        </p:txBody>
      </p:sp>
    </p:spTree>
    <p:extLst>
      <p:ext uri="{BB962C8B-B14F-4D97-AF65-F5344CB8AC3E}">
        <p14:creationId xmlns:p14="http://schemas.microsoft.com/office/powerpoint/2010/main" val="82759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black and white image of bar graphs">
            <a:extLst>
              <a:ext uri="{FF2B5EF4-FFF2-40B4-BE49-F238E27FC236}">
                <a16:creationId xmlns:a16="http://schemas.microsoft.com/office/drawing/2014/main" id="{328A991A-37FB-44FF-88EA-33E50292CB5C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" y="0"/>
            <a:ext cx="12188952" cy="6858000"/>
          </a:xfr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39" y="255714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72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 Objectives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F04D30-F224-451C-9FFE-3930E78F7E5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" y="1727581"/>
            <a:ext cx="12188952" cy="37687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69546-98E9-F1F3-EBF1-6A0D6781F3C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763D8E-0465-AD57-B72E-578EFD90B3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185A13-D459-83EA-02E0-644F099173F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46545-CEBC-21EE-C6D0-3753CB7722B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sz="1800" dirty="0">
                <a:latin typeface="Proxima Nova"/>
                <a:ea typeface="Proxima Nova"/>
                <a:cs typeface="Proxima Nova"/>
                <a:sym typeface="Proxima Nova"/>
              </a:rPr>
              <a:t>Conduct data exploration to identify trends &amp; market patterns.</a:t>
            </a:r>
          </a:p>
          <a:p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0EFA60-7525-467C-6DFD-3C9F8ED5AA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sz="1800" dirty="0">
                <a:latin typeface="Proxima Nova"/>
                <a:ea typeface="Proxima Nova"/>
                <a:cs typeface="Proxima Nova"/>
                <a:sym typeface="Proxima Nova"/>
              </a:rPr>
              <a:t>Build models for Close Price, Returns, and Trading Volume.</a:t>
            </a:r>
          </a:p>
          <a:p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A819D20-0B28-1462-14DE-909577334E6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sz="1800" dirty="0">
                <a:latin typeface="Proxima Nova"/>
                <a:ea typeface="Proxima Nova"/>
                <a:cs typeface="Proxima Nova"/>
                <a:sym typeface="Proxima Nova"/>
              </a:rPr>
              <a:t>Evaluate model performance using statistical metrics.</a:t>
            </a:r>
          </a:p>
          <a:p>
            <a:r>
              <a:rPr lang="en-US" sz="1800" dirty="0">
                <a:latin typeface="Proxima Nova"/>
                <a:ea typeface="Proxima Nova"/>
                <a:cs typeface="Proxima Nova"/>
                <a:sym typeface="Proxima Nova"/>
              </a:rPr>
              <a:t>Perform crisis analysis focusing on 2008 financial downturn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2181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image of bar graphs&#10;">
            <a:extLst>
              <a:ext uri="{FF2B5EF4-FFF2-40B4-BE49-F238E27FC236}">
                <a16:creationId xmlns:a16="http://schemas.microsoft.com/office/drawing/2014/main" id="{1D2A9476-0B6C-45AA-9858-11D33F36A0DA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" r="6"/>
          <a:stretch/>
        </p:blipFill>
        <p:spPr>
          <a:xfrm>
            <a:off x="0" y="0"/>
            <a:ext cx="12188952" cy="6858000"/>
          </a:xfr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1" y="1129442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ZA" dirty="0"/>
              <a:t>SCOPE OF THE PROJECT</a:t>
            </a:r>
            <a:br>
              <a:rPr lang="en-ZA" dirty="0"/>
            </a:br>
            <a:r>
              <a:rPr lang="en-US" sz="2200" b="1" dirty="0"/>
              <a:t>Dataset: 3,000 observations, 24 variables (2000–2025).</a:t>
            </a:r>
            <a:br>
              <a:rPr lang="en-IN" dirty="0"/>
            </a:br>
            <a:endParaRPr lang="en-ZA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B4B73B3-17D0-4AD4-A250-23C177FEC5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69848" y="3730752"/>
            <a:ext cx="3227832" cy="1188720"/>
          </a:xfrm>
        </p:spPr>
        <p:txBody>
          <a:bodyPr/>
          <a:lstStyle/>
          <a:p>
            <a:r>
              <a:rPr lang="en-US" sz="1800" b="1" dirty="0">
                <a:latin typeface="Aptos" panose="020B0004020202020204" pitchFamily="34" charset="0"/>
                <a:ea typeface="Proxima Nova"/>
                <a:cs typeface="Proxima Nova"/>
                <a:sym typeface="Proxima Nova"/>
              </a:rPr>
              <a:t>Includes</a:t>
            </a:r>
            <a:r>
              <a:rPr lang="en-US" sz="1800" b="1" dirty="0">
                <a:latin typeface="Aptos" panose="020B0004020202020204" pitchFamily="34" charset="0"/>
              </a:rPr>
              <a:t> stock market, macroeconomic, global, and fiscal indicators.</a:t>
            </a:r>
            <a:endParaRPr lang="en-IN" sz="1800" b="1" dirty="0">
              <a:latin typeface="Aptos" panose="020B0004020202020204" pitchFamily="34" charset="0"/>
            </a:endParaRPr>
          </a:p>
          <a:p>
            <a:r>
              <a:rPr lang="en-IN" dirty="0"/>
              <a:t> </a:t>
            </a:r>
            <a:endParaRPr lang="en-ZA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DC3A9B5-5598-4CD5-88DB-141F093C2F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00600" y="3730752"/>
            <a:ext cx="3227832" cy="1188720"/>
          </a:xfrm>
        </p:spPr>
        <p:txBody>
          <a:bodyPr/>
          <a:lstStyle/>
          <a:p>
            <a:r>
              <a:rPr lang="en-US" sz="1800" b="1" dirty="0"/>
              <a:t>Combines statistical analysis with machine-learning interpretation.</a:t>
            </a:r>
            <a:endParaRPr lang="en-IN" sz="1800" dirty="0"/>
          </a:p>
          <a:p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24C0B95-53C2-4500-8EAE-8B7F73AAE5B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31351" y="3730752"/>
            <a:ext cx="2947239" cy="1188720"/>
          </a:xfrm>
        </p:spPr>
        <p:txBody>
          <a:bodyPr/>
          <a:lstStyle/>
          <a:p>
            <a:r>
              <a:rPr lang="en-US" sz="1800" b="1" dirty="0"/>
              <a:t>Excludes high-frequency trading data and deep learning models.</a:t>
            </a:r>
            <a:endParaRPr lang="en-IN" sz="1800" dirty="0"/>
          </a:p>
          <a:p>
            <a:r>
              <a:rPr lang="en-IN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8901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Background Literature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5BD19-BD10-8D3B-5970-C44199C8E44F}"/>
              </a:ext>
            </a:extLst>
          </p:cNvPr>
          <p:cNvSpPr txBox="1"/>
          <p:nvPr/>
        </p:nvSpPr>
        <p:spPr>
          <a:xfrm>
            <a:off x="1550505" y="2688030"/>
            <a:ext cx="3597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GDP growth → stronger market performance over long horizons.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30192E-BBF2-19B2-8FA9-836005AB8008}"/>
              </a:ext>
            </a:extLst>
          </p:cNvPr>
          <p:cNvSpPr txBox="1"/>
          <p:nvPr/>
        </p:nvSpPr>
        <p:spPr>
          <a:xfrm>
            <a:off x="6450496" y="2688030"/>
            <a:ext cx="419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Corporate profits → indicator of firm health and market expansion.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ECE5E-398A-26F7-4749-5924F2095687}"/>
              </a:ext>
            </a:extLst>
          </p:cNvPr>
          <p:cNvSpPr txBox="1"/>
          <p:nvPr/>
        </p:nvSpPr>
        <p:spPr>
          <a:xfrm>
            <a:off x="1550505" y="3995530"/>
            <a:ext cx="3925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Markets react to economic cycles, policy changes, and investor confidence.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B9DC75-DF4C-76A2-5C4C-68208E5D9A3D}"/>
              </a:ext>
            </a:extLst>
          </p:cNvPr>
          <p:cNvSpPr txBox="1"/>
          <p:nvPr/>
        </p:nvSpPr>
        <p:spPr>
          <a:xfrm>
            <a:off x="6579704" y="3876261"/>
            <a:ext cx="4190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Inflation &amp; interest rates → reduce market valuations and returns.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2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>
            <a:extLst>
              <a:ext uri="{FF2B5EF4-FFF2-40B4-BE49-F238E27FC236}">
                <a16:creationId xmlns:a16="http://schemas.microsoft.com/office/drawing/2014/main" id="{82D36010-C86D-4E36-B6CF-A9BDD347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ADF5DB-0025-47AA-9436-DFD100097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133" y="246519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E3061B-C3BC-4087-AEF7-2C6C9BDB7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9913" y="2410334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FFA4BA-93DF-4ECF-A20F-3D40A2066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8968" y="2373177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3791FF-CCF9-4C5D-A843-3726D4BA7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87E0B-BD0E-99EC-57D3-C3E4AFC35359}"/>
              </a:ext>
            </a:extLst>
          </p:cNvPr>
          <p:cNvSpPr txBox="1"/>
          <p:nvPr/>
        </p:nvSpPr>
        <p:spPr>
          <a:xfrm>
            <a:off x="1006795" y="2889687"/>
            <a:ext cx="2103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Includes key macroeconomic indicators: GDP, Inflation,  Unemployment.</a:t>
            </a:r>
          </a:p>
          <a:p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6F95CD-83B5-5CF4-FD57-1F151DDF51FE}"/>
              </a:ext>
            </a:extLst>
          </p:cNvPr>
          <p:cNvSpPr txBox="1"/>
          <p:nvPr/>
        </p:nvSpPr>
        <p:spPr>
          <a:xfrm>
            <a:off x="3709913" y="2889687"/>
            <a:ext cx="25058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Global indicators: Gold, Oil, USD/EUR, USD/JPY.</a:t>
            </a:r>
          </a:p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Contains daily financial data: Open, High, Low, Close, Volume.</a:t>
            </a:r>
          </a:p>
          <a:p>
            <a:endParaRPr lang="en-US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6E6217-C5E0-7A16-BD00-5D210118A8B0}"/>
              </a:ext>
            </a:extLst>
          </p:cNvPr>
          <p:cNvSpPr txBox="1"/>
          <p:nvPr/>
        </p:nvSpPr>
        <p:spPr>
          <a:xfrm>
            <a:off x="6378968" y="3048873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Includes fiscal &amp; sentiment data: Corporate Profits, Government Debt.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0BBA3D-5F52-0758-0E3F-64140AD1F855}"/>
              </a:ext>
            </a:extLst>
          </p:cNvPr>
          <p:cNvSpPr txBox="1"/>
          <p:nvPr/>
        </p:nvSpPr>
        <p:spPr>
          <a:xfrm>
            <a:off x="9087296" y="3119186"/>
            <a:ext cx="2442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No missing values,</a:t>
            </a:r>
          </a:p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clean and consistent dataset.</a:t>
            </a:r>
          </a:p>
          <a:p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1905C1-67E0-8360-3D9E-8F6F71DE8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6748" y="2370474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0630-3B55-4F40-C544-0B95496B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7FE8-7472-2123-6F5B-E98476C5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 dirty="0"/>
              <a:t>Data Understanding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B33D7-3EA1-9D3B-22C1-D2AE385E0EDA}"/>
              </a:ext>
            </a:extLst>
          </p:cNvPr>
          <p:cNvSpPr txBox="1"/>
          <p:nvPr/>
        </p:nvSpPr>
        <p:spPr>
          <a:xfrm>
            <a:off x="1570384" y="2530013"/>
            <a:ext cx="3597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Inflation and interest rates are negatively correlated with market performance.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8C681-9684-8C4D-EBA1-33433BA5D216}"/>
              </a:ext>
            </a:extLst>
          </p:cNvPr>
          <p:cNvSpPr txBox="1"/>
          <p:nvPr/>
        </p:nvSpPr>
        <p:spPr>
          <a:xfrm>
            <a:off x="1550505" y="3995530"/>
            <a:ext cx="3925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GDP growth is positively associated with stock market performance.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B3E423-7758-710D-3C57-945C62137B0C}"/>
              </a:ext>
            </a:extLst>
          </p:cNvPr>
          <p:cNvSpPr txBox="1"/>
          <p:nvPr/>
        </p:nvSpPr>
        <p:spPr>
          <a:xfrm>
            <a:off x="6579704" y="3876261"/>
            <a:ext cx="4190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Trading volume increases significantly during periods of uncertainty or policy changes.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9E867-6D44-2EDD-F5AE-3D3D084C52E1}"/>
              </a:ext>
            </a:extLst>
          </p:cNvPr>
          <p:cNvSpPr txBox="1"/>
          <p:nvPr/>
        </p:nvSpPr>
        <p:spPr>
          <a:xfrm>
            <a:off x="6430617" y="2564296"/>
            <a:ext cx="434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Gold prices tend to rise during periods of market uncertainty and risk aversion.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67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image of bar graph">
            <a:extLst>
              <a:ext uri="{FF2B5EF4-FFF2-40B4-BE49-F238E27FC236}">
                <a16:creationId xmlns:a16="http://schemas.microsoft.com/office/drawing/2014/main" id="{6A057D43-F8BF-4DAD-A7AD-845A6D5B5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357" y="649806"/>
            <a:ext cx="7894320" cy="708301"/>
          </a:xfrm>
        </p:spPr>
        <p:txBody>
          <a:bodyPr>
            <a:normAutofit fontScale="90000"/>
          </a:bodyPr>
          <a:lstStyle/>
          <a:p>
            <a:pPr>
              <a:lnSpc>
                <a:spcPts val="7915"/>
              </a:lnSpc>
            </a:pPr>
            <a:r>
              <a:rPr lang="en-US" b="1" dirty="0"/>
              <a:t>Exploratory</a:t>
            </a:r>
            <a:r>
              <a:rPr lang="en-US" dirty="0"/>
              <a:t> </a:t>
            </a:r>
            <a:r>
              <a:rPr lang="en-US" b="1" dirty="0"/>
              <a:t>Data Analysis</a:t>
            </a:r>
            <a:br>
              <a:rPr lang="en-IN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7"/>
            <a:ext cx="9144000" cy="451750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04A6B-B6E9-40E3-BFCB-8C1C17E0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89043" y="1690688"/>
            <a:ext cx="10078279" cy="45175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A37967-4785-DCF7-8211-C87A88CE3546}"/>
              </a:ext>
            </a:extLst>
          </p:cNvPr>
          <p:cNvSpPr txBox="1"/>
          <p:nvPr/>
        </p:nvSpPr>
        <p:spPr>
          <a:xfrm>
            <a:off x="2286000" y="2044839"/>
            <a:ext cx="821303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Long-term upward trend in stock prices interrupted by crisis years.</a:t>
            </a:r>
            <a:endParaRPr lang="en-IN" sz="20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Clear cyclical patterns in GDP, inflation, and interest rates.</a:t>
            </a:r>
            <a:endParaRPr lang="en-IN" sz="20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Strong shifts in trading volume tied to volatility periods.</a:t>
            </a:r>
            <a:endParaRPr lang="en-IN" sz="20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Fiscal indicators move closely with economic stress (e.g., debt spikes during recessions).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733"/>
            <a:ext cx="10515600" cy="1067145"/>
          </a:xfrm>
        </p:spPr>
        <p:txBody>
          <a:bodyPr/>
          <a:lstStyle/>
          <a:p>
            <a:pPr algn="ctr">
              <a:lnSpc>
                <a:spcPts val="5058"/>
              </a:lnSpc>
            </a:pPr>
            <a: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Close Price Prediction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FB0964-D200-64B2-C65E-06B4B1B0D399}"/>
              </a:ext>
            </a:extLst>
          </p:cNvPr>
          <p:cNvSpPr txBox="1"/>
          <p:nvPr/>
        </p:nvSpPr>
        <p:spPr>
          <a:xfrm>
            <a:off x="7702826" y="1699591"/>
            <a:ext cx="41545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Identifies long-run relationships influencing price levels.</a:t>
            </a:r>
            <a:endParaRPr lang="en-IN" dirty="0">
              <a:latin typeface="Aptos Display" panose="020B00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Strong economic logic even with modest statistical accuracy.</a:t>
            </a:r>
            <a:endParaRPr lang="en-IN" dirty="0">
              <a:latin typeface="Aptos Display" panose="020B00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 panose="020B0004020202020204" pitchFamily="34" charset="0"/>
              </a:rPr>
              <a:t>Helps understand how macro shocks affect valuation trends.</a:t>
            </a:r>
            <a:endParaRPr lang="en-IN" dirty="0">
              <a:latin typeface="Aptos Display" panose="020B0004020202020204" pitchFamily="34" charset="0"/>
            </a:endParaRPr>
          </a:p>
          <a:p>
            <a:endParaRPr lang="en-IN" dirty="0">
              <a:latin typeface="Aptos Display" panose="020B00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EEB443E-BA2A-BF0D-43EB-5C8FF049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17" y="1252330"/>
            <a:ext cx="7613374" cy="536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3483B-926E-AAEA-1C5E-473FB472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163F91-BA42-43AC-6E25-50133AB6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516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ts val="5058"/>
              </a:lnSpc>
            </a:pPr>
            <a: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Trading Value Prediction</a:t>
            </a:r>
            <a:b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1366A-A2E6-9625-099F-5D16CD63F1E3}"/>
              </a:ext>
            </a:extLst>
          </p:cNvPr>
          <p:cNvSpPr txBox="1"/>
          <p:nvPr/>
        </p:nvSpPr>
        <p:spPr>
          <a:xfrm>
            <a:off x="7725811" y="1300369"/>
            <a:ext cx="4154557" cy="545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Trading volume indicates market liquidity and investor activity.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It is highly sensitive to interest rate changes, market volatility, and macroeconomic conditions.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It is the best-performing model among the three, effectively capturing underlying market activity patterns.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15F4C-9EE3-086B-AC05-FA9FE0BAC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5" y="1300369"/>
            <a:ext cx="688761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66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4DA0-5946-DD66-F696-AA0A0600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AE5F9-ED4D-3B45-CACA-C73EF614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516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ts val="5058"/>
              </a:lnSpc>
            </a:pPr>
            <a: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Trading Value Prediction</a:t>
            </a:r>
            <a:b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01DBD1-FE85-49EF-E8FE-2EB96D94B594}"/>
              </a:ext>
            </a:extLst>
          </p:cNvPr>
          <p:cNvSpPr txBox="1"/>
          <p:nvPr/>
        </p:nvSpPr>
        <p:spPr>
          <a:xfrm>
            <a:off x="7735751" y="1859339"/>
            <a:ext cx="4154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Close Price:</a:t>
            </a:r>
            <a:r>
              <a:rPr lang="en-US" dirty="0"/>
              <a:t> Low R² — weak predictive power, influenced by external and market-specific factors.</a:t>
            </a:r>
          </a:p>
          <a:p>
            <a:endParaRPr lang="en-US" dirty="0"/>
          </a:p>
          <a:p>
            <a:r>
              <a:rPr lang="en-US" b="1" dirty="0"/>
              <a:t>Returns:</a:t>
            </a:r>
            <a:r>
              <a:rPr lang="en-US" dirty="0"/>
              <a:t> Very low accuracy — reflects high volatility and inherent market randomness.</a:t>
            </a:r>
          </a:p>
          <a:p>
            <a:endParaRPr lang="en-US" dirty="0"/>
          </a:p>
          <a:p>
            <a:r>
              <a:rPr lang="en-US" b="1" dirty="0"/>
              <a:t>Volume:</a:t>
            </a:r>
            <a:r>
              <a:rPr lang="en-US" dirty="0"/>
              <a:t> Relatively better performance — captures structural patterns and investor activity.</a:t>
            </a:r>
          </a:p>
          <a:p>
            <a:endParaRPr lang="en-US" dirty="0"/>
          </a:p>
          <a:p>
            <a:r>
              <a:rPr lang="en-US" b="1" dirty="0"/>
              <a:t>Overall:</a:t>
            </a:r>
            <a:r>
              <a:rPr lang="en-US" dirty="0"/>
              <a:t> Models provide useful insights but have limited predictive capability.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5D6362-8A62-511D-20A6-A6E1830D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4" y="1182758"/>
            <a:ext cx="6867939" cy="509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0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11E1-F014-6C82-8408-95DA2A48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9E6098-6C39-02D4-FBA2-06A25A3F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516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ts val="5058"/>
              </a:lnSpc>
            </a:pPr>
            <a: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crisis Analysis</a:t>
            </a:r>
            <a:br>
              <a:rPr lang="en-US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28E7D1-5426-01BC-ACD1-9EC42406F1D1}"/>
              </a:ext>
            </a:extLst>
          </p:cNvPr>
          <p:cNvSpPr txBox="1"/>
          <p:nvPr/>
        </p:nvSpPr>
        <p:spPr>
          <a:xfrm>
            <a:off x="7735751" y="1859339"/>
            <a:ext cx="41545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Close Price:</a:t>
            </a:r>
            <a:r>
              <a:rPr lang="en-US" dirty="0"/>
              <a:t> Low R² — largely affected by non-macroeconomic factors.</a:t>
            </a:r>
          </a:p>
          <a:p>
            <a:endParaRPr lang="en-US" dirty="0"/>
          </a:p>
          <a:p>
            <a:r>
              <a:rPr lang="en-US" b="1" dirty="0"/>
              <a:t>Returns:</a:t>
            </a:r>
            <a:r>
              <a:rPr lang="en-US" dirty="0"/>
              <a:t> Very low accuracy — consistent with the inherent randomness of markets.</a:t>
            </a:r>
          </a:p>
          <a:p>
            <a:endParaRPr lang="en-US" dirty="0"/>
          </a:p>
          <a:p>
            <a:r>
              <a:rPr lang="en-US" b="1" dirty="0"/>
              <a:t>Volume:</a:t>
            </a:r>
            <a:r>
              <a:rPr lang="en-US" dirty="0"/>
              <a:t> Stronger structural fit — reflects underlying economic activity.</a:t>
            </a:r>
          </a:p>
          <a:p>
            <a:endParaRPr lang="en-US" dirty="0"/>
          </a:p>
          <a:p>
            <a:r>
              <a:rPr lang="en-US" b="1" dirty="0"/>
              <a:t>Overall:</a:t>
            </a:r>
            <a:r>
              <a:rPr lang="en-US" dirty="0"/>
              <a:t> Models offer insights but are not reliable for precise prediction.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D5A49-5665-94E4-C330-F85042027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013791"/>
            <a:ext cx="7012885" cy="52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96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E315-1B30-9131-F899-EF694DA9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>
            <a:extLst>
              <a:ext uri="{FF2B5EF4-FFF2-40B4-BE49-F238E27FC236}">
                <a16:creationId xmlns:a16="http://schemas.microsoft.com/office/drawing/2014/main" id="{1D023288-DE68-DD9C-F926-0F4B5E10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3B168B-4500-BF00-F39C-019FCE886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133" y="246519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85F1D8-0093-2F05-C4B9-0F82F17FD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9913" y="2410334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C258F3-3CF7-3EC0-7851-16DF99FCA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8968" y="2373177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E3EB41-909D-19AA-1FEC-FA7E862A6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5EE95-544A-0719-8EC6-19CAD2C77115}"/>
              </a:ext>
            </a:extLst>
          </p:cNvPr>
          <p:cNvSpPr txBox="1"/>
          <p:nvPr/>
        </p:nvSpPr>
        <p:spPr>
          <a:xfrm>
            <a:off x="1006795" y="3082746"/>
            <a:ext cx="2103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Interest rate &amp; fiscal decisions shape market stability.</a:t>
            </a:r>
          </a:p>
          <a:p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F832A6-7038-D25E-8449-9DF381834E5A}"/>
              </a:ext>
            </a:extLst>
          </p:cNvPr>
          <p:cNvSpPr txBox="1"/>
          <p:nvPr/>
        </p:nvSpPr>
        <p:spPr>
          <a:xfrm>
            <a:off x="3709913" y="2938887"/>
            <a:ext cx="2505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GDP and consumer-related indicators guide production and investment decisions.</a:t>
            </a:r>
          </a:p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2E8F2-6F56-004A-F16C-6A1C1C2B5166}"/>
              </a:ext>
            </a:extLst>
          </p:cNvPr>
          <p:cNvSpPr txBox="1"/>
          <p:nvPr/>
        </p:nvSpPr>
        <p:spPr>
          <a:xfrm>
            <a:off x="6505649" y="2938887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Macro indicators guide portfolio strategy and risk management.</a:t>
            </a:r>
          </a:p>
          <a:p>
            <a:endParaRPr lang="en-US" dirty="0">
              <a:solidFill>
                <a:srgbClr val="000000"/>
              </a:solidFill>
              <a:ea typeface="Proxima Nova"/>
              <a:cs typeface="Proxima Nova"/>
              <a:sym typeface="Proxima Nov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0CE045-8A68-CA30-5500-1C292E64272D}"/>
              </a:ext>
            </a:extLst>
          </p:cNvPr>
          <p:cNvSpPr txBox="1"/>
          <p:nvPr/>
        </p:nvSpPr>
        <p:spPr>
          <a:xfrm>
            <a:off x="9176748" y="3124118"/>
            <a:ext cx="2442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a typeface="Proxima Nova"/>
                <a:cs typeface="Proxima Nova"/>
                <a:sym typeface="Proxima Nova"/>
              </a:rPr>
              <a:t>Volume models assist with liquidity planning.</a:t>
            </a:r>
          </a:p>
          <a:p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BC3660-6407-D7AA-C3B6-3E7B5AAC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6748" y="2370474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E6558-0E47-8CFF-D192-6A8FDFD61E68}"/>
              </a:ext>
            </a:extLst>
          </p:cNvPr>
          <p:cNvSpPr txBox="1"/>
          <p:nvPr/>
        </p:nvSpPr>
        <p:spPr>
          <a:xfrm>
            <a:off x="912133" y="1838739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Policy Makers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97842-298D-FA28-A75D-8C9A289E4F82}"/>
              </a:ext>
            </a:extLst>
          </p:cNvPr>
          <p:cNvSpPr txBox="1"/>
          <p:nvPr/>
        </p:nvSpPr>
        <p:spPr>
          <a:xfrm>
            <a:off x="3709913" y="1838739"/>
            <a:ext cx="221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 Businesses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51072-96C3-216D-9768-62E9BA39695D}"/>
              </a:ext>
            </a:extLst>
          </p:cNvPr>
          <p:cNvSpPr txBox="1"/>
          <p:nvPr/>
        </p:nvSpPr>
        <p:spPr>
          <a:xfrm>
            <a:off x="6415063" y="1838739"/>
            <a:ext cx="221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 Investors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63FBD-C104-5539-8244-35EF6E1E8AA9}"/>
              </a:ext>
            </a:extLst>
          </p:cNvPr>
          <p:cNvSpPr txBox="1"/>
          <p:nvPr/>
        </p:nvSpPr>
        <p:spPr>
          <a:xfrm>
            <a:off x="9176748" y="1838739"/>
            <a:ext cx="244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Financial Institutions</a:t>
            </a:r>
          </a:p>
        </p:txBody>
      </p:sp>
    </p:spTree>
    <p:extLst>
      <p:ext uri="{BB962C8B-B14F-4D97-AF65-F5344CB8AC3E}">
        <p14:creationId xmlns:p14="http://schemas.microsoft.com/office/powerpoint/2010/main" val="344550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Placeholder 51" descr="photo of building column&#10;">
            <a:extLst>
              <a:ext uri="{FF2B5EF4-FFF2-40B4-BE49-F238E27FC236}">
                <a16:creationId xmlns:a16="http://schemas.microsoft.com/office/drawing/2014/main" id="{FB984F8E-E35E-4C11-86D8-AC8E1328E9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" b="58"/>
          <a:stretch/>
        </p:blipFill>
        <p:spPr>
          <a:xfrm>
            <a:off x="458724" y="481369"/>
            <a:ext cx="11274552" cy="2743200"/>
          </a:xfrm>
        </p:spPr>
      </p:pic>
      <p:sp>
        <p:nvSpPr>
          <p:cNvPr id="34" name="Title 33">
            <a:extLst>
              <a:ext uri="{FF2B5EF4-FFF2-40B4-BE49-F238E27FC236}">
                <a16:creationId xmlns:a16="http://schemas.microsoft.com/office/drawing/2014/main" id="{17B7CBFC-65A2-4AB4-BE48-C580D13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592386"/>
            <a:ext cx="45720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2B40CBE-DEC8-4A9F-AF68-3DABE42C7E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9391" y="3546348"/>
            <a:ext cx="5248656" cy="237737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Macro variables drive long-run structural market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Insights support economic planning, policy design, and investment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Short-term forecasting is limited due to market randomness.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hoto of Wall street sign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.potx" id="{20737546-06B0-4BD7-AC56-F403EF86C0E3}" vid="{1EA85B44-1A53-4BBB-B1B2-A9A21AB62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Financial pitch deck</Template>
  <TotalTime>177</TotalTime>
  <Words>653</Words>
  <Application>Microsoft Office PowerPoint</Application>
  <PresentationFormat>Widescreen</PresentationFormat>
  <Paragraphs>97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Canva Sans Bold</vt:lpstr>
      <vt:lpstr>Montserrat</vt:lpstr>
      <vt:lpstr>Montserrat Bold</vt:lpstr>
      <vt:lpstr>Proxima Nova</vt:lpstr>
      <vt:lpstr>Selawik Semibold</vt:lpstr>
      <vt:lpstr>Source Sans Pro</vt:lpstr>
      <vt:lpstr>Source Sans Pro ExtraLight</vt:lpstr>
      <vt:lpstr>Office Theme</vt:lpstr>
      <vt:lpstr>Macroeconomic Drivers of Stock Market Performance</vt:lpstr>
      <vt:lpstr>Statement of Purpose</vt:lpstr>
      <vt:lpstr>Project  Objectives</vt:lpstr>
      <vt:lpstr>SCOPE OF THE PROJECT Dataset: 3,000 observations, 24 variables (2000–2025). </vt:lpstr>
      <vt:lpstr>Background Literature </vt:lpstr>
      <vt:lpstr>Data Collection</vt:lpstr>
      <vt:lpstr>Data Understanding</vt:lpstr>
      <vt:lpstr>Exploratory Data Analysis </vt:lpstr>
      <vt:lpstr>Close Price Prediction</vt:lpstr>
      <vt:lpstr>Trading Value Prediction </vt:lpstr>
      <vt:lpstr>Trading Value Prediction </vt:lpstr>
      <vt:lpstr>Financial crisis Analysis </vt:lpstr>
      <vt:lpstr>Business Impact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sathiya s</dc:creator>
  <cp:lastModifiedBy>sathiya s</cp:lastModifiedBy>
  <cp:revision>2</cp:revision>
  <dcterms:created xsi:type="dcterms:W3CDTF">2026-03-19T18:06:06Z</dcterms:created>
  <dcterms:modified xsi:type="dcterms:W3CDTF">2026-03-19T21:03:41Z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